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960120"/>
            <a:ext cx="4937760" cy="4937760"/>
          </a:xfrm>
          <a:prstGeom prst="ellips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726680" y="2011680"/>
            <a:ext cx="2834640" cy="2834640"/>
          </a:xfrm>
          <a:prstGeom prst="ellipse">
            <a:avLst/>
          </a:prstGeom>
          <a:solidFill>
            <a:srgbClr val="15171B">
              <a:alpha val="0"/>
            </a:srgbClr>
          </a:solidFill>
          <a:ln w="12700">
            <a:solidFill>
              <a:srgbClr val="5B96FF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9061704" y="3346704"/>
            <a:ext cx="164592" cy="164592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198" y="2089908"/>
            <a:ext cx="310896" cy="310896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219456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7" name="Shape 5"/>
          <p:cNvSpPr/>
          <p:nvPr/>
        </p:nvSpPr>
        <p:spPr>
          <a:xfrm>
            <a:off x="9646920" y="461772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8" name="Shape 6"/>
          <p:cNvSpPr/>
          <p:nvPr/>
        </p:nvSpPr>
        <p:spPr>
          <a:xfrm>
            <a:off x="10287000" y="283464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FINDER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friend with borrowed WiFi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the North 2026  ·  custom ESP32-C3 badge firmware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trying to find your friend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Hack the North.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0" y="82296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1E2126"/>
          </a:solidFill>
          <a:ln/>
        </p:spPr>
      </p:sp>
      <p:sp>
        <p:nvSpPr>
          <p:cNvPr id="5" name="Shape 3"/>
          <p:cNvSpPr/>
          <p:nvPr/>
        </p:nvSpPr>
        <p:spPr>
          <a:xfrm>
            <a:off x="7488947" y="118192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" name="Shape 4"/>
          <p:cNvSpPr/>
          <p:nvPr/>
        </p:nvSpPr>
        <p:spPr>
          <a:xfrm>
            <a:off x="7547121" y="148710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" name="Shape 5"/>
          <p:cNvSpPr/>
          <p:nvPr/>
        </p:nvSpPr>
        <p:spPr>
          <a:xfrm>
            <a:off x="7635662" y="199997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" name="Shape 6"/>
          <p:cNvSpPr/>
          <p:nvPr/>
        </p:nvSpPr>
        <p:spPr>
          <a:xfrm>
            <a:off x="7555183" y="249215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9" name="Shape 7"/>
          <p:cNvSpPr/>
          <p:nvPr/>
        </p:nvSpPr>
        <p:spPr>
          <a:xfrm>
            <a:off x="7640833" y="289812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0" name="Shape 8"/>
          <p:cNvSpPr/>
          <p:nvPr/>
        </p:nvSpPr>
        <p:spPr>
          <a:xfrm>
            <a:off x="7626638" y="336490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1" name="Shape 9"/>
          <p:cNvSpPr/>
          <p:nvPr/>
        </p:nvSpPr>
        <p:spPr>
          <a:xfrm>
            <a:off x="7653241" y="3733716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4219" y="427549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9360" y="459198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4" name="Shape 12"/>
          <p:cNvSpPr/>
          <p:nvPr/>
        </p:nvSpPr>
        <p:spPr>
          <a:xfrm>
            <a:off x="8074573" y="109082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2550" y="160717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6" name="Shape 14"/>
          <p:cNvSpPr/>
          <p:nvPr/>
        </p:nvSpPr>
        <p:spPr>
          <a:xfrm>
            <a:off x="7961703" y="199601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2704" y="247936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66495" y="290508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0456" y="341970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1876" y="375250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5404" y="4199926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2" name="Shape 20"/>
          <p:cNvSpPr/>
          <p:nvPr/>
        </p:nvSpPr>
        <p:spPr>
          <a:xfrm>
            <a:off x="7967685" y="464102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71242" y="105601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4" name="Shape 22"/>
          <p:cNvSpPr/>
          <p:nvPr/>
        </p:nvSpPr>
        <p:spPr>
          <a:xfrm>
            <a:off x="8573595" y="155687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5" name="Shape 23"/>
          <p:cNvSpPr/>
          <p:nvPr/>
        </p:nvSpPr>
        <p:spPr>
          <a:xfrm>
            <a:off x="8531754" y="206940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6" name="Shape 24"/>
          <p:cNvSpPr/>
          <p:nvPr/>
        </p:nvSpPr>
        <p:spPr>
          <a:xfrm>
            <a:off x="8396841" y="239588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7" name="Shape 25"/>
          <p:cNvSpPr/>
          <p:nvPr/>
        </p:nvSpPr>
        <p:spPr>
          <a:xfrm>
            <a:off x="8497829" y="289127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8" name="Shape 26"/>
          <p:cNvSpPr/>
          <p:nvPr/>
        </p:nvSpPr>
        <p:spPr>
          <a:xfrm>
            <a:off x="8469829" y="327579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29" name="Shape 27"/>
          <p:cNvSpPr/>
          <p:nvPr/>
        </p:nvSpPr>
        <p:spPr>
          <a:xfrm>
            <a:off x="8567904" y="369607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58568" y="420231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1" name="Shape 29"/>
          <p:cNvSpPr/>
          <p:nvPr/>
        </p:nvSpPr>
        <p:spPr>
          <a:xfrm>
            <a:off x="8518708" y="476709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2" name="Shape 30"/>
          <p:cNvSpPr/>
          <p:nvPr/>
        </p:nvSpPr>
        <p:spPr>
          <a:xfrm>
            <a:off x="8936676" y="102999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3" name="Shape 31"/>
          <p:cNvSpPr/>
          <p:nvPr/>
        </p:nvSpPr>
        <p:spPr>
          <a:xfrm>
            <a:off x="8914702" y="150180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4" name="Shape 32"/>
          <p:cNvSpPr/>
          <p:nvPr/>
        </p:nvSpPr>
        <p:spPr>
          <a:xfrm>
            <a:off x="8906421" y="197809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00007" y="244781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6" name="Shape 34"/>
          <p:cNvSpPr/>
          <p:nvPr/>
        </p:nvSpPr>
        <p:spPr>
          <a:xfrm>
            <a:off x="8956630" y="283583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7" name="Shape 35"/>
          <p:cNvSpPr/>
          <p:nvPr/>
        </p:nvSpPr>
        <p:spPr>
          <a:xfrm>
            <a:off x="9015462" y="332907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8" name="Shape 36"/>
          <p:cNvSpPr/>
          <p:nvPr/>
        </p:nvSpPr>
        <p:spPr>
          <a:xfrm>
            <a:off x="9006714" y="381280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39" name="Shape 37"/>
          <p:cNvSpPr/>
          <p:nvPr/>
        </p:nvSpPr>
        <p:spPr>
          <a:xfrm>
            <a:off x="8960715" y="423694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0" name="Shape 38"/>
          <p:cNvSpPr/>
          <p:nvPr/>
        </p:nvSpPr>
        <p:spPr>
          <a:xfrm>
            <a:off x="8934684" y="471974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1" name="Shape 39"/>
          <p:cNvSpPr/>
          <p:nvPr/>
        </p:nvSpPr>
        <p:spPr>
          <a:xfrm>
            <a:off x="9470172" y="107650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2" name="Shape 40"/>
          <p:cNvSpPr/>
          <p:nvPr/>
        </p:nvSpPr>
        <p:spPr>
          <a:xfrm>
            <a:off x="9423634" y="149526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3" name="Shape 41"/>
          <p:cNvSpPr/>
          <p:nvPr/>
        </p:nvSpPr>
        <p:spPr>
          <a:xfrm>
            <a:off x="9399217" y="196333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4" name="Shape 42"/>
          <p:cNvSpPr/>
          <p:nvPr/>
        </p:nvSpPr>
        <p:spPr>
          <a:xfrm>
            <a:off x="9347666" y="241960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5" name="Shape 43"/>
          <p:cNvSpPr/>
          <p:nvPr/>
        </p:nvSpPr>
        <p:spPr>
          <a:xfrm>
            <a:off x="9441032" y="296545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6" name="Shape 44"/>
          <p:cNvSpPr/>
          <p:nvPr/>
        </p:nvSpPr>
        <p:spPr>
          <a:xfrm>
            <a:off x="9303505" y="340177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7" name="Shape 45"/>
          <p:cNvSpPr/>
          <p:nvPr/>
        </p:nvSpPr>
        <p:spPr>
          <a:xfrm>
            <a:off x="9296797" y="376686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8" name="Shape 46"/>
          <p:cNvSpPr/>
          <p:nvPr/>
        </p:nvSpPr>
        <p:spPr>
          <a:xfrm>
            <a:off x="9312054" y="4148756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49" name="Shape 47"/>
          <p:cNvSpPr/>
          <p:nvPr/>
        </p:nvSpPr>
        <p:spPr>
          <a:xfrm>
            <a:off x="9481565" y="462540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0" name="Shape 48"/>
          <p:cNvSpPr/>
          <p:nvPr/>
        </p:nvSpPr>
        <p:spPr>
          <a:xfrm>
            <a:off x="9856427" y="102571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1171" y="156402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2" name="Shape 50"/>
          <p:cNvSpPr/>
          <p:nvPr/>
        </p:nvSpPr>
        <p:spPr>
          <a:xfrm>
            <a:off x="9756936" y="207825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3" name="Shape 51"/>
          <p:cNvSpPr/>
          <p:nvPr/>
        </p:nvSpPr>
        <p:spPr>
          <a:xfrm>
            <a:off x="9907162" y="252001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4" name="Shape 52"/>
          <p:cNvSpPr/>
          <p:nvPr/>
        </p:nvSpPr>
        <p:spPr>
          <a:xfrm>
            <a:off x="9907294" y="297153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5" name="Shape 53"/>
          <p:cNvSpPr/>
          <p:nvPr/>
        </p:nvSpPr>
        <p:spPr>
          <a:xfrm>
            <a:off x="9882331" y="329238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6" name="Shape 54"/>
          <p:cNvSpPr/>
          <p:nvPr/>
        </p:nvSpPr>
        <p:spPr>
          <a:xfrm>
            <a:off x="9731326" y="373498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7" name="Shape 55"/>
          <p:cNvSpPr/>
          <p:nvPr/>
        </p:nvSpPr>
        <p:spPr>
          <a:xfrm>
            <a:off x="9744513" y="413340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8" name="Shape 56"/>
          <p:cNvSpPr/>
          <p:nvPr/>
        </p:nvSpPr>
        <p:spPr>
          <a:xfrm>
            <a:off x="9853304" y="462769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59" name="Shape 57"/>
          <p:cNvSpPr/>
          <p:nvPr/>
        </p:nvSpPr>
        <p:spPr>
          <a:xfrm>
            <a:off x="10326367" y="109514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315580" y="149264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90712" y="1876107"/>
            <a:ext cx="219456" cy="219456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52498" y="252076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01085" y="288734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177869" y="342064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305402" y="3870532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181496" y="431415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15119" y="4776023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39044" y="113336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78893" y="148956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667359" y="200634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35858" y="249564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66287" y="293257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25547" y="324356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647518" y="3869911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651633" y="4271464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804976" y="4588599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7" name="Shape 75"/>
          <p:cNvSpPr/>
          <p:nvPr/>
        </p:nvSpPr>
        <p:spPr>
          <a:xfrm>
            <a:off x="11251043" y="116997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8" name="Shape 76"/>
          <p:cNvSpPr/>
          <p:nvPr/>
        </p:nvSpPr>
        <p:spPr>
          <a:xfrm>
            <a:off x="11273091" y="163672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79" name="Shape 77"/>
          <p:cNvSpPr/>
          <p:nvPr/>
        </p:nvSpPr>
        <p:spPr>
          <a:xfrm>
            <a:off x="11227254" y="1977218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0" name="Shape 78"/>
          <p:cNvSpPr/>
          <p:nvPr/>
        </p:nvSpPr>
        <p:spPr>
          <a:xfrm>
            <a:off x="11123317" y="2487247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1" name="Shape 79"/>
          <p:cNvSpPr/>
          <p:nvPr/>
        </p:nvSpPr>
        <p:spPr>
          <a:xfrm>
            <a:off x="11250858" y="2869045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2" name="Shape 80"/>
          <p:cNvSpPr/>
          <p:nvPr/>
        </p:nvSpPr>
        <p:spPr>
          <a:xfrm>
            <a:off x="11120608" y="3318426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3" name="Shape 81"/>
          <p:cNvSpPr/>
          <p:nvPr/>
        </p:nvSpPr>
        <p:spPr>
          <a:xfrm>
            <a:off x="11251817" y="379744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4" name="Shape 82"/>
          <p:cNvSpPr/>
          <p:nvPr/>
        </p:nvSpPr>
        <p:spPr>
          <a:xfrm>
            <a:off x="11144082" y="4258116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21221" y="4648540"/>
            <a:ext cx="91440" cy="91440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7315200" y="5532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is in here. somewhere.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4008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2600" dirty="0"/>
          </a:p>
        </p:txBody>
      </p:sp>
      <p:sp>
        <p:nvSpPr>
          <p:cNvPr id="88" name="Text 86"/>
          <p:cNvSpPr txBox="1"/>
          <p:nvPr/>
        </p:nvSpPr>
        <p:spPr>
          <a:xfrm>
            <a:off x="640080" y="45262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hackers in one building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283464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bars</a:t>
            </a:r>
            <a:endParaRPr lang="en-US" sz="2600" dirty="0"/>
          </a:p>
        </p:txBody>
      </p:sp>
      <p:sp>
        <p:nvSpPr>
          <p:cNvPr id="90" name="Text 88"/>
          <p:cNvSpPr txBox="1"/>
          <p:nvPr/>
        </p:nvSpPr>
        <p:spPr>
          <a:xfrm>
            <a:off x="2834640" y="45262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cell signal in the hall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02920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the tables”</a:t>
            </a:r>
            <a:endParaRPr lang="en-US" sz="2000" dirty="0"/>
          </a:p>
        </p:txBody>
      </p:sp>
      <p:sp>
        <p:nvSpPr>
          <p:cNvPr id="92" name="Text 90"/>
          <p:cNvSpPr txBox="1"/>
          <p:nvPr/>
        </p:nvSpPr>
        <p:spPr>
          <a:xfrm>
            <a:off x="5029200" y="4526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every corner of the venue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640080" y="5760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badge can help — </a:t>
            </a:r>
            <a:pPr indent="0" marL="0">
              <a:buNone/>
            </a:pPr>
            <a:r>
              <a:rPr lang="en-US" sz="1800" b="1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replace its firmware.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in your hands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E21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HAS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— full scan, ESP-NOW, SoftAP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802.11mc FTM — time-of-flight ranging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— raw advertise + scan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 — step counting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RGB LEDs + 320×240 display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39512" cy="3566160"/>
          </a:xfrm>
          <a:prstGeom prst="roundRect">
            <a:avLst>
              <a:gd name="adj" fmla="val 3077"/>
            </a:avLst>
          </a:prstGeom>
          <a:solidFill>
            <a:srgbClr val="1E21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DOESN'T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06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— useless indoors anyway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Magnetometer — no compass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— can't track turning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UWB / AoA antennas — no AirTag tricks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badge has no idea which way it is pointing. </a:t>
            </a:r>
            <a:pPr indent="0" marL="0">
              <a:buNone/>
            </a:pPr>
            <a:r>
              <a:rPr lang="en-US" sz="17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follows is about earning a direction anyway.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MEASURE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distance is only a 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4297680" cy="4297680"/>
          </a:xfrm>
          <a:prstGeom prst="ellipse">
            <a:avLst/>
          </a:prstGeom>
          <a:solidFill>
            <a:srgbClr val="15171B">
              <a:alpha val="0"/>
            </a:srgbClr>
          </a:solidFill>
          <a:ln w="22225">
            <a:solidFill>
              <a:srgbClr val="FF7A5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026664" y="3895344"/>
            <a:ext cx="164592" cy="164592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(you)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06717" y="2905809"/>
            <a:ext cx="274320" cy="274320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8" name="Shape 6"/>
          <p:cNvSpPr/>
          <p:nvPr/>
        </p:nvSpPr>
        <p:spPr>
          <a:xfrm>
            <a:off x="3964793" y="5773830"/>
            <a:ext cx="237744" cy="237744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5547" y="5310230"/>
            <a:ext cx="237744" cy="237744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792" y="3104991"/>
            <a:ext cx="237744" cy="237744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5390" y="1825321"/>
            <a:ext cx="237744" cy="237744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|AB| = 5.0 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03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802.11mc FTM</a:t>
            </a:r>
            <a:pPr indent="0" marL="0">
              <a:buNone/>
            </a:pPr>
            <a:r>
              <a:rPr lang="en-US" sz="17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round-trip time of a WiFi frame — distance to the other badge, accurate to a metre or two.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91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with no compass and no gyro, that number is only a radius. </a:t>
            </a:r>
            <a:pPr indent="0" marL="0">
              <a:buNone/>
            </a:pPr>
            <a:r>
              <a:rPr lang="en-US" sz="17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could be anywhere on the ring.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is a direction to walk.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alone in the room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V="1">
            <a:off x="5212080" y="2468880"/>
            <a:ext cx="1463040" cy="1737360"/>
          </a:xfrm>
          <a:prstGeom prst="line">
            <a:avLst/>
          </a:prstGeom>
          <a:noFill/>
          <a:ln w="12700">
            <a:solidFill>
              <a:srgbClr val="5B96FF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 flipH="1" flipV="1">
            <a:off x="6675120" y="2468880"/>
            <a:ext cx="4206240" cy="1737360"/>
          </a:xfrm>
          <a:prstGeom prst="line">
            <a:avLst/>
          </a:prstGeom>
          <a:noFill/>
          <a:ln w="12700">
            <a:solidFill>
              <a:srgbClr val="FF7A5C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 flipV="1">
            <a:off x="5212080" y="2743200"/>
            <a:ext cx="4114800" cy="1463040"/>
          </a:xfrm>
          <a:prstGeom prst="line">
            <a:avLst/>
          </a:prstGeom>
          <a:noFill/>
          <a:ln w="12700">
            <a:solidFill>
              <a:srgbClr val="5B96FF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 flipH="1" flipV="1">
            <a:off x="9326880" y="2743200"/>
            <a:ext cx="1554480" cy="1463040"/>
          </a:xfrm>
          <a:prstGeom prst="line">
            <a:avLst/>
          </a:prstGeom>
          <a:noFill/>
          <a:ln w="12700">
            <a:solidFill>
              <a:srgbClr val="FF7A5C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5212080" y="4206240"/>
            <a:ext cx="2560320" cy="1280160"/>
          </a:xfrm>
          <a:prstGeom prst="line">
            <a:avLst/>
          </a:prstGeom>
          <a:noFill/>
          <a:ln w="12700">
            <a:solidFill>
              <a:srgbClr val="5B96FF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 flipH="1">
            <a:off x="7772400" y="4206240"/>
            <a:ext cx="3108960" cy="1280160"/>
          </a:xfrm>
          <a:prstGeom prst="line">
            <a:avLst/>
          </a:prstGeom>
          <a:noFill/>
          <a:ln w="12700">
            <a:solidFill>
              <a:srgbClr val="FF7A5C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6565392" y="2359152"/>
            <a:ext cx="219456" cy="219456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17152" y="2633472"/>
            <a:ext cx="219456" cy="219456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5376672"/>
            <a:ext cx="219456" cy="219456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4983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411480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735056" y="4059936"/>
            <a:ext cx="292608" cy="292608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6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5–8 access points are visible from anywhere in the venue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6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move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▪"/>
            </a:pPr>
            <a:r>
              <a:rPr lang="en-US" sz="16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badges can see the same ones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static reference points — shared by both badges.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474720"/>
            <a:ext cx="5120640" cy="5120640"/>
          </a:xfrm>
          <a:prstGeom prst="ellipse">
            <a:avLst/>
          </a:prstGeom>
          <a:solidFill>
            <a:srgbClr val="15171B">
              <a:alpha val="0"/>
            </a:srgbClr>
          </a:solidFill>
          <a:ln w="12700">
            <a:solidFill>
              <a:srgbClr val="5A5D6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-640080" y="-1280160"/>
            <a:ext cx="3840480" cy="3840480"/>
          </a:xfrm>
          <a:prstGeom prst="ellipse">
            <a:avLst/>
          </a:prstGeom>
          <a:solidFill>
            <a:srgbClr val="15171B">
              <a:alpha val="0"/>
            </a:srgbClr>
          </a:solidFill>
          <a:ln w="12700">
            <a:solidFill>
              <a:srgbClr val="5A5D64"/>
            </a:solidFill>
            <a:prstDash val="sysDash"/>
          </a:ln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MATH WORKS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captures, one short walk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FIRST CAPTURE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frame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011680" y="3017520"/>
            <a:ext cx="7955280" cy="914"/>
          </a:xfrm>
          <a:prstGeom prst="line">
            <a:avLst/>
          </a:prstGeom>
          <a:noFill/>
          <a:ln w="19050">
            <a:solidFill>
              <a:srgbClr val="5A5D6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20240" y="292608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9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(0, 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820656" y="2871216"/>
            <a:ext cx="292608" cy="292608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(d, 0)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5.0 m from FTM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the distance d between the badges — but not the bearing. So we build the only frame we can: </a:t>
            </a:r>
            <a:pPr indent="0" marL="0">
              <a:buNone/>
            </a:pPr>
            <a:r>
              <a:rPr lang="en-US" sz="17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 the origin, B on the x-axis, by construction.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scans the same APs and sends its list back over ESP-NOW. </a:t>
            </a:r>
            <a:pPr indent="0" marL="0">
              <a:buNone/>
            </a:pPr>
            <a:r>
              <a:rPr lang="en-US" sz="17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APs × (6 B BSSID + 1 B RSSI) = 56 bytes — one packet.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FIRST CAPTURE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circles, two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3931920"/>
            <a:ext cx="5852160" cy="914"/>
          </a:xfrm>
          <a:prstGeom prst="line">
            <a:avLst/>
          </a:prstGeom>
          <a:noFill/>
          <a:ln w="12700">
            <a:solidFill>
              <a:srgbClr val="5A5D6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3383280" cy="3383280"/>
          </a:xfrm>
          <a:prstGeom prst="ellipse">
            <a:avLst/>
          </a:prstGeom>
          <a:solidFill>
            <a:srgbClr val="15171B">
              <a:alpha val="0"/>
            </a:srgbClr>
          </a:solidFill>
          <a:ln w="19050">
            <a:solidFill>
              <a:srgbClr val="5B96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474720" y="2011680"/>
            <a:ext cx="3840480" cy="3840480"/>
          </a:xfrm>
          <a:prstGeom prst="ellips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72281" y="2660632"/>
            <a:ext cx="201168" cy="201168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2281" y="5002040"/>
            <a:ext cx="201168" cy="201168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72865" y="2761216"/>
            <a:ext cx="914" cy="2341409"/>
          </a:xfrm>
          <a:prstGeom prst="line">
            <a:avLst/>
          </a:prstGeom>
          <a:noFill/>
          <a:ln w="22225">
            <a:solidFill>
              <a:srgbClr val="4CC98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69464" y="3849624"/>
            <a:ext cx="164592" cy="164592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11" name="Shape 9"/>
          <p:cNvSpPr/>
          <p:nvPr/>
        </p:nvSpPr>
        <p:spPr>
          <a:xfrm>
            <a:off x="5266944" y="3803904"/>
            <a:ext cx="256032" cy="256032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55745" y="266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55745" y="5011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P₂ (mirror)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920240"/>
            <a:ext cx="4233672" cy="2377440"/>
          </a:xfrm>
          <a:prstGeom prst="roundRect">
            <a:avLst>
              <a:gd name="adj" fmla="val 4615"/>
            </a:avLst>
          </a:prstGeom>
          <a:solidFill>
            <a:srgbClr val="1E21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5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shared AP: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560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(d² + dA² − dB²) / 2d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C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±√(dA² − x²)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572000"/>
            <a:ext cx="4233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RSSI path loss gives rough distances dA and dB to the AP. Circle about A, circle about B — they cross at </a:t>
            </a:r>
            <a:pPr indent="0" marL="0">
              <a:buNone/>
            </a:pPr>
            <a:r>
              <a:rPr lang="en-US" sz="15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points, mirror images across AB.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GEOMETRY CHECK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chords are parallel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840480"/>
            <a:ext cx="5669280" cy="914"/>
          </a:xfrm>
          <a:prstGeom prst="line">
            <a:avLst/>
          </a:prstGeom>
          <a:noFill/>
          <a:ln w="12700">
            <a:solidFill>
              <a:srgbClr val="5A5D6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72184" y="3758184"/>
            <a:ext cx="164592" cy="164592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6" name="Shape 4"/>
          <p:cNvSpPr/>
          <p:nvPr/>
        </p:nvSpPr>
        <p:spPr>
          <a:xfrm>
            <a:off x="6181344" y="3712464"/>
            <a:ext cx="256032" cy="256032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237744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512064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468880"/>
            <a:ext cx="914" cy="2743200"/>
          </a:xfrm>
          <a:prstGeom prst="line">
            <a:avLst/>
          </a:prstGeom>
          <a:noFill/>
          <a:ln w="22225">
            <a:solidFill>
              <a:srgbClr val="4CC98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931920" y="288036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461772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971800"/>
            <a:ext cx="914" cy="1737360"/>
          </a:xfrm>
          <a:prstGeom prst="line">
            <a:avLst/>
          </a:prstGeom>
          <a:noFill/>
          <a:ln w="22225">
            <a:solidFill>
              <a:srgbClr val="4CC98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29200" y="219456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530352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E9E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286000"/>
            <a:ext cx="914" cy="3108960"/>
          </a:xfrm>
          <a:prstGeom prst="line">
            <a:avLst/>
          </a:prstGeom>
          <a:noFill/>
          <a:ln w="22225">
            <a:solidFill>
              <a:srgbClr val="4CC98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74320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chord ⊥ AB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01168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hypothesis, verified: </a:t>
            </a:r>
            <a:pPr indent="0" marL="0">
              <a:buNone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candidates of every AP are reflections across AB, so every chord is exactly perpendicular to AB — all of them parallel. Checked numerically: 90.00°, every time.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160520"/>
            <a:ext cx="4233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catch: </a:t>
            </a:r>
            <a:pPr indent="0" marL="0">
              <a:buNone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the frame that put AB on the x-axis. In the only frame we can build, “perpendicular to AB” is true by construction — it recovers the axis we picked, not a real-world direction.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THE LIMIT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the axis — not the direction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3931920"/>
            <a:ext cx="5852160" cy="914"/>
          </a:xfrm>
          <a:prstGeom prst="line">
            <a:avLst/>
          </a:prstGeom>
          <a:noFill/>
          <a:ln w="19050">
            <a:solidFill>
              <a:srgbClr val="5A5D6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49040" y="384048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3931920"/>
            <a:ext cx="1417320" cy="914"/>
          </a:xfrm>
          <a:prstGeom prst="line">
            <a:avLst/>
          </a:prstGeom>
          <a:noFill/>
          <a:ln w="31750">
            <a:solidFill>
              <a:srgbClr val="9BA0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2103120" y="3931920"/>
            <a:ext cx="1417320" cy="914"/>
          </a:xfrm>
          <a:prstGeom prst="line">
            <a:avLst/>
          </a:prstGeom>
          <a:noFill/>
          <a:ln w="31750">
            <a:solidFill>
              <a:srgbClr val="9BA0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72200" y="3794760"/>
            <a:ext cx="274320" cy="274320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794760"/>
            <a:ext cx="274320" cy="274320"/>
          </a:xfrm>
          <a:prstGeom prst="triangle">
            <a:avLst/>
          </a:prstGeom>
          <a:solidFill>
            <a:srgbClr val="15171B">
              <a:alpha val="0"/>
            </a:srgbClr>
          </a:solidFill>
          <a:ln w="19050">
            <a:solidFill>
              <a:srgbClr val="FF7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246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B?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011680"/>
            <a:ext cx="4233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chord midpoints pin the axis A should move along — the A–B line is known. </a:t>
            </a:r>
            <a:pPr indent="0" marL="0">
              <a:buNone/>
            </a:pPr>
            <a:r>
              <a:rPr lang="en-US" sz="16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both directions along it fit the data equally well: </a:t>
            </a:r>
            <a:pPr indent="0" marL="0">
              <a:buNone/>
            </a:pPr>
            <a:r>
              <a:rPr lang="en-US" sz="16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 B, or exactly away from it.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297680"/>
            <a:ext cx="4233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alone cannot tell you which of the two ways to walk.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SECOND CAPTURE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 few steps, measure again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4206240"/>
            <a:ext cx="4389120" cy="640080"/>
          </a:xfrm>
          <a:prstGeom prst="line">
            <a:avLst/>
          </a:prstGeom>
          <a:noFill/>
          <a:ln w="12700">
            <a:solidFill>
              <a:srgbClr val="5A5D6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64792" y="4782312"/>
            <a:ext cx="128016" cy="128016"/>
          </a:xfrm>
          <a:prstGeom prst="ellipse">
            <a:avLst/>
          </a:prstGeom>
          <a:solidFill>
            <a:srgbClr val="5A5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1828800" y="3566160"/>
            <a:ext cx="822960" cy="1280160"/>
          </a:xfrm>
          <a:prstGeom prst="line">
            <a:avLst/>
          </a:prstGeom>
          <a:noFill/>
          <a:ln w="31750">
            <a:solidFill>
              <a:srgbClr val="5B96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347472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1168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4069080"/>
            <a:ext cx="274320" cy="274320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56032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292608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0" y="5394960"/>
            <a:ext cx="182880" cy="182880"/>
          </a:xfrm>
          <a:prstGeom prst="rect">
            <a:avLst/>
          </a:prstGeom>
          <a:solidFill>
            <a:srgbClr val="E9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566928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5A5D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5605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530352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5A5D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5239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2834640"/>
            <a:ext cx="182880" cy="182880"/>
          </a:xfrm>
          <a:prstGeom prst="rect">
            <a:avLst/>
          </a:prstGeom>
          <a:solidFill>
            <a:srgbClr val="15171B">
              <a:alpha val="0"/>
            </a:srgbClr>
          </a:solidFill>
          <a:ln w="19050">
            <a:solidFill>
              <a:srgbClr val="5A5D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690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651760" y="3566160"/>
            <a:ext cx="3566160" cy="640080"/>
          </a:xfrm>
          <a:prstGeom prst="line">
            <a:avLst/>
          </a:prstGeom>
          <a:noFill/>
          <a:ln w="31750">
            <a:solidFill>
              <a:srgbClr val="4CC98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15200" y="192024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▪"/>
            </a:pPr>
            <a:r>
              <a:rPr lang="en-US" sz="145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count the displacement — ≈0.72 m each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78892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▪"/>
            </a:pPr>
            <a:r>
              <a:rPr lang="en-US" sz="145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is “straight ahead” in your own body frame — a direction you can feel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65760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▪"/>
            </a:pPr>
            <a:r>
              <a:rPr lang="en-US" sz="145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Re-scan from A₂: only one candidate in each mirror pair fits the new distances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2628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▪"/>
            </a:pPr>
            <a:r>
              <a:rPr lang="en-US" sz="145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anchors — A₁, B, A₂ — kill the reflection and pin the map to your walk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= arccos(−Δd / Δwalked)   keeps the compass live while you walk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NUMBERS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beats spinning in 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1E21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±29° → ±15–25°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bearing error, vs a single body-shadow spin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07408" y="19659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1E21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1728" y="22860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5–8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063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per capture — over-determined, robust to any one bad AP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74736" y="19659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1E21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49056" y="228600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bytes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49056" y="3063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data exchanged — one ESP-NOW packet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Multipath errors on different APs are largely independent — they average out. </a:t>
            </a:r>
            <a:pPr indent="0" marL="0">
              <a:buNone/>
            </a:pPr>
            <a:r>
              <a:rPr lang="en-US" sz="155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RSSI→distance is still the weak link (factor-of-two typical): the rings are thick annuli, not thin circles.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endgame: APs are static. </a:t>
            </a:r>
            <a:pPr indent="0" marL="0">
              <a:buNone/>
            </a:pPr>
            <a:r>
              <a:rPr lang="en-US" sz="1650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their positions once, cache the map — every later locate is a single scan. No walking, no spinning.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&amp; ASSUMPTIONS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1E21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83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error in a single WiFi distance estimate — signals bounce off walls, fade, and interfere.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97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a rolling average. </a:t>
            </a:r>
            <a:pPr indent="0" marL="0">
              <a:buNone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scan is noisy, but the noise is different every time — averaging successive scans smooths the jitter into a stable estimate.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39512" cy="3977640"/>
          </a:xfrm>
          <a:prstGeom prst="roundRect">
            <a:avLst>
              <a:gd name="adj" fmla="val 2759"/>
            </a:avLst>
          </a:prstGeom>
          <a:solidFill>
            <a:srgbClr val="1E21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ASSUMPTIONS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6517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bodies in the way — a person between the badges soaks up 10–20 dB and reads as extra distance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much obstruction between them — walls and dense crowd stretch every apparent range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hallway-scale finder, not an AirTag — and it says so honestly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assumptions break, the arrow drifts — the rolling average keeps it from lying confidently.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1208" y="594360"/>
            <a:ext cx="5669280" cy="5669280"/>
          </a:xfrm>
          <a:prstGeom prst="ellipse">
            <a:avLst/>
          </a:prstGeom>
          <a:solidFill>
            <a:srgbClr val="15171B">
              <a:alpha val="0"/>
            </a:srgbClr>
          </a:solidFill>
          <a:ln w="25400">
            <a:solidFill>
              <a:srgbClr val="4CC98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169768" y="333756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4" name="Shape 2"/>
          <p:cNvSpPr/>
          <p:nvPr/>
        </p:nvSpPr>
        <p:spPr>
          <a:xfrm>
            <a:off x="8793328" y="3291840"/>
            <a:ext cx="274320" cy="274320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2423160"/>
            <a:ext cx="9445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spc="1000" kern="0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on two badges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5303520"/>
            <a:ext cx="182880" cy="182880"/>
          </a:xfrm>
          <a:prstGeom prst="ellipse">
            <a:avLst/>
          </a:prstGeom>
          <a:solidFill>
            <a:srgbClr val="5B96FF"/>
          </a:solidFill>
          <a:ln/>
        </p:spPr>
      </p:sp>
      <p:sp>
        <p:nvSpPr>
          <p:cNvPr id="3" name="Shape 1"/>
          <p:cNvSpPr/>
          <p:nvPr/>
        </p:nvSpPr>
        <p:spPr>
          <a:xfrm>
            <a:off x="4343400" y="5394960"/>
            <a:ext cx="3291840" cy="914"/>
          </a:xfrm>
          <a:prstGeom prst="line">
            <a:avLst/>
          </a:prstGeom>
          <a:noFill/>
          <a:ln w="31750">
            <a:solidFill>
              <a:srgbClr val="4CC98A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717536" y="5248656"/>
            <a:ext cx="292608" cy="292608"/>
          </a:xfrm>
          <a:prstGeom prst="triangle">
            <a:avLst/>
          </a:prstGeom>
          <a:solidFill>
            <a:srgbClr val="FF7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2331720"/>
            <a:ext cx="9445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the North 2026 badge · custom ESP-IDF firmware · ±17° with three spins averaged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2026-09-20T06:02:44Z</dcterms:created>
  <dcterms:modified xsi:type="dcterms:W3CDTF">2026-09-20T06:02:44Z</dcterms:modified>
</cp:coreProperties>
</file>